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Интерпретируемая классификация ответа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клеток рака молочной железы на химиотерапию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по 4-канальным иммунофлуоресцентным изображениям  ·  CNN vs Vision Transformer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CM4AI (NIH Bridge2AI), March 2025 Beta Release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 клеточного ответа на терапию — узкое место исследовательского цикла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High-content imaging — стандартный инструмент доклинического скрининга препаратов: автоматизированная многоканальная флуоресцентная микроскопия + количественный анализ изображений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Узкое место — не съёмка, а интерпретация: ручная аннотация субъективна и плохо масштабируется при сериях из тысяч изображений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Стандартные пайплайны (ImageJ, CellProfiler) дают метрики яркости и формы, но не объясняют механизм ответа клетки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35040" y="1325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СТЕЙКХОЛДЕРЫ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164592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783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Биолог-исследователь  </a:t>
            </a:r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 vivo скрининг препаратов на клеточных моделях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69748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2834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Фармкомпания  </a:t>
            </a:r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доклинический R&amp;D, ускорение цикла анализа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0" y="3840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416052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E7EFE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429768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Классифицировать IF-изображения клеток по типу лекарственного воздействия и объяснить, через какие субклеточные структуры этот ответ проявляется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 сформулирована как ускорение исследовательского цикла лаборатории — не как клиническое решение.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БИОЛОГИЧЕСКОЕ ОБОСНОВАНИЕ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препарата — два разных механизма действия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64592" cy="164592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276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Паклитаксел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Стабилизирует микротрубочки — блокирует их деполимеризацию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Веретено деления не формируется нормально → митотический арест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Клетка застревает в митозе → запускается апоптоз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Ожидаемый канал: Red (цитоплазма, микротрубочки)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0352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737360"/>
            <a:ext cx="164592" cy="164592"/>
          </a:xfrm>
          <a:prstGeom prst="ellipse">
            <a:avLst/>
          </a:prstGeom>
          <a:solidFill>
            <a:srgbClr val="33658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6276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Вориностат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Ингибирует гистондеацетилазы (HDAC), включая HDAC6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HDAC6 напрямую регулирует ацетилирование α-тубулина — прямой эффект на цитоскелет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Дополнительно — реорганизация хроматина через изменение экспрессии генов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Ожидаемый канал: Blue (ядро) и Red (цитоскелет) в зависимости от срока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проекта: модель способна выучить механизм-специфичные паттерны, а не общий стресс-ответ клетки.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БИЗНЕС-ГИПОТЕЗА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Связь метрик модели с практической ценностью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ОФФЛАЙН-МЕТРИКИ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Зачем нужна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Равновзвешена по классам — не теряем ни один из трёх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Способность модели ранжировать классы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Attention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активации на ожидаемом канале — проверка биологической осмысленности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Confusion Matrix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Анализ типичных ошибок между парами классов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37160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ОНЛАЙН-МЕТРИКИ (ПРИКИДКА)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257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9164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6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Ручной анализ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6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6B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Time-to-result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минуты на образец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сек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единицы в час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тысячи в час (batch)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для ручной проверки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160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СВЯЗАНО С БИЗНЕСОМ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4480560"/>
            <a:ext cx="11064240" cy="1554480"/>
          </a:xfrm>
          <a:prstGeom prst="roundRect">
            <a:avLst>
              <a:gd name="adj" fmla="val 3529"/>
            </a:avLst>
          </a:prstGeom>
          <a:solidFill>
            <a:srgbClr val="E7EFE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461772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Macro F1 означает, что модель одинаково надёжно распознаёт все три состояния клеток — критично, поскольку ошибка в сторону «untreated» при реальном воздействии препарата исказит оценку эффективности терапии. Channel Attention Score переводит техническую метрику в биологическую интерпретацию: если модель смотрит на ожидаемые субклеточные структуры, её решениям можно доверять.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Онлайн-метрики — оценочные ориентиры, не проверенные в продуктивной среде эксплуатации.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 и структура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CM4AI (NIH Bridge2AI), March 2025 Beta Release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38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dataverse.lib.virginia.edu — doi:10.18130/V3/B35XWX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ОДНОГО ОБРАЗЦА — 4 КАНАЛА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Канал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Окрашивает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Биологический смысл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(DAPI)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Ядро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Структура хроматина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Белок-мишень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Зависит от белка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Цитоскелет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Микротрубочки, актин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Мембрана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Зависит от белка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355080" y="137160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КЛАССОВ — СБАЛАНСИРОВАНЫ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257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417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Образцов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Уник. белков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4 421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Paclitaxel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4 421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Vorinostat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4 421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13 263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355080" y="379476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ИМЕНОВАНИЕ ФАЙЛОВ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355080" y="411480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37960" y="42245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5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B2AI_1_Vorinostat_A1_R1_z01_blue.jpg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537960" y="4617720"/>
            <a:ext cx="4892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номер планшета  ·  Vorinostat — класс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— позиция в планшете (лунка)  ·  R1 — раунд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z01 — z-стек (фокус по оси Z)  ·  blue — канал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сбалансированы по классам и по числу уникальных белков на класс — дисбаланс не является проблемой на этом этапе.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Разведочный анализ — что можно сделать вывод бизнесу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ИНТЕНСИВНОСТЬ КАНАЛОВ ПО КЛАССАМ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— самый яркий канал во всех трёх классах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— самый тусклый канал во всех трёх классах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Гистограммы интенсивности между классами заметно перекрываются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E7EFE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657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ДЛЯ БИЗНЕСА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 неразличимы по простой средней яркости канала. Значит пороговые методы классического image analysis не работают — необходимо обучение на морфологических, пространственных паттернах. Это обосновывает выбор глубокого обучения вместо ручных эвристик.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55080" y="137160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УТЕЧКИ ДАННЫХ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1691640"/>
            <a:ext cx="5257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клеток снималась дважды: до и после обработки (одна физическая позиция, разные treatment)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такая пара попадёт в разные выборки — модель выучит клетку, а не класс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разбивка по физической позиции (plate + well + round), независимо от treatment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416052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43434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Проверка: пересечение групп между train / val / test = 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48463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Артефакты IF-метода встречаются равномерно во всех классах — не создают систематического смещения, не удаляются.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на выборке 100–200 образцов на класс. Любой график здесь должен вести к конкретному решению в пайплайне — не быть декоративным.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Разбивка на выборки и предобработка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РАЗБИВКА (СТРАТИФИЦИРОВАНА ПО КЛАССАМ)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Выборка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Образцов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~7 284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~1 560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246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Единица разбивки — cell_group (plate + well + round). Использован только z01.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ПРЕДОБРАБОТКИ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25196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Извлечение яркостного канала из каждого JPG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Объединение 4 каналов в тензор (4, H, W)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Ресайз до 224×224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Channel-wise Z-score нормализация (по train)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55080" y="137160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 (ТОЛЬКО TRAIN)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169164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F7F7F7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181051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Случайное горизонтальное отражение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Случайное вертикальное отражение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55080" y="306324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ВЗВЕШИВАНИЕ КЛАССОВ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55080" y="338328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350215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compute_class_weight('balanced') применяется дополнительно — для устойчивости к случайным флуктуациям в батчах, несмотря на сбалансированность классов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355080" y="448056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OCCLUSION: «ПУСТОЙ» КАНАЛ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55080" y="4800600"/>
            <a:ext cx="5257800" cy="1005840"/>
          </a:xfrm>
          <a:prstGeom prst="roundRect">
            <a:avLst>
              <a:gd name="adj" fmla="val 5455"/>
            </a:avLst>
          </a:prstGeom>
          <a:solidFill>
            <a:srgbClr val="E7EFE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491947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в исходном пространстве → (0 − mean[ch]) / std[ch] в нормализованном — корректная замена «отсутствия сигнала»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статистики (mean, std) вычислены по train и зафиксированы для val/test и инференса.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модели из разных семейств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92024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Семейство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Обучаемых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Стратегия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млн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млн (100%)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Полный файнтюн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ViT-Small/16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(supervised)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 млн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 млн (100%)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Полный файнтюн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 ViT-S/14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(self-supervised)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млн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млн (~11%)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Частичный файнтюн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880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ЭТИ МОДЕЛИ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320040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3337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EfficientNet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65760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бенчмарк для медицинских изображений. Смотрит локально через свёртки. Эффективен на ограниченных данных.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320040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3337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ViT-Small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0" y="365760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Анализирует глобальные пространственные взаимосвязи через self-attention. Потенциально лучше подходит для IF-изображений с распределёнными структурами.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38160" y="320040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66760" y="3337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DINOv2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366760" y="365760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предобучение без разметки. Авторы демонстрировали выделение биологически осмысленных структур на клеточных изображениях без supervision.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под 4 канала (все модели): веса каналов 0–2 копируются из ImageNet, канал 3 (Yellow) инициализирован как mean(dim=1) по RGB.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— EfficientNet-B0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СЕТИ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852160" cy="2743200"/>
          </a:xfrm>
          <a:prstGeom prst="roundRect">
            <a:avLst>
              <a:gd name="adj" fmla="val 2000"/>
            </a:avLst>
          </a:prstGeom>
          <a:solidFill>
            <a:srgbClr val="F7F7F7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5394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Вход: (4, 224, 224)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Conv2d(4→32, 3×3, stride=2)  [адаптирован с 3 каналов]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EfficientNet-B0 features (MBConv, 7 стадий)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GlobalAveragePooling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Dropout(0.2)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Linear(1280 → 3)  →  Softmax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слой Grad-CAM: model.features[-1][-1]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1371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ГИПЕРПАРАМЕТРЫ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691640"/>
          <a:ext cx="4937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decay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ReduceLROnPlateau (p=3, f=0.5)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patience=5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CrossEntropy + class_weights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файнтюн: все слои, включая предобученный backbone, обучаются совместно с lr=1e-4.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— ViT-Small и DINOv2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VIT-SMALL/16 (TIMM, SUPERVISED PRETRAIN)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7F7F7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Вход: (4, 224, 224)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PatchEmbed Conv2d(4→384, 16×16) → 196 патчей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CLS token + позиционные эмбеддинги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12 × TransformerBlock (6 голов)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LayerNorm → CLS → Linear(384→3)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lr=1e-4 · Adam · batch_size=4→2 (OOM, gradient accumulation=2) · max_epochs=10+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55080" y="137160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VIT-S/14 (SELF-SUPERVISED PRETRAIN)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7F7F7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28800"/>
            <a:ext cx="4800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Вход: (4, 224, 224)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PatchEmbed Conv2d(4→384, 14×14) → 256 патчей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12 × TransformerBlock (заморожены 0–9)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разморожены: блоки 10–11 + patch embed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LayerNorm → CLS → Dropout(0.3) → Linear(384→3)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374904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lr=2e-5 (в 5× меньше EfficientNet) · AdamW · weight_decay=1e-4 · max_epochs=30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LR МЕНЬШЕ ДЛЯ DINOV2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E7EFE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89204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Тонкая настройка трансформера с большим lr разрушает предобученные self-supervised веса. Меньший lr сохраняет качество представлений, выученных без разметки.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55080" y="443484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КАК FEATURE EXTRACTOR (BASELINE)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475488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E7EFE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89204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нулевой гипотезы: замороженный DINOv2 → 384-мерные эмбеддинги → логистическая регрессия (C=1.0). Baseline перед полным файнтюном.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моделей на тестовой выборке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Paclitaxel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Vorinostat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32588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(ЧАСТИЧНЫЙ ФАЙНТЮН)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45920"/>
          <a:ext cx="52578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234440"/>
                <a:gridCol w="123444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Paclitaxel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Vorinostat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55080" y="329184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заполнить точные числа из test_classification_report (DINOv2)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8640" y="3840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ИТОГОВОЕ СРАВНЕНИЕ</a:t>
            </a:r>
            <a:endParaRPr lang="en-US" sz="11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1737360"/>
                <a:gridCol w="26517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Обучаемых параметров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млн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сошёлся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 (частичный файнтюн)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млн из 21 млн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сошёлся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ViT-Small (полный файнтюн)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 млн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завершён (OOM)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ViT-Small: обучение прервано CUDA OOM при batch_size=4; повтор с batch_size=2 + gradient accumulation также прерван — модель в финальное сравнение не включена.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Онлайн-метрики (оценка)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F7F7F7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5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 мин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анализ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образец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E7EFE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600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5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сек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66160" y="2423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модели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образец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E7EFE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00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5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~3 600+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0" y="2423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Образцов в час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 inference)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46304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F7F7F7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600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5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35440" y="2423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параметров,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обучаемых в DINOv2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НА СЕРИИ ОБРАЗЦОВ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7F7F7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776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серии в 500 образцов (типичный объём одного экспериментального плана) — потенциальная экономия 80–160 часов лабораторного времени на анализ против ручной аннотации. Оценка является ориентировочной экстраполяцией от time-to-result и не проверена в продуктивной среде.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ВАЖНО ПОДЧЕРКНУТЬ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и time-to-result — оценки на основе inference-скорости модели, не измерены в реальном лабораторном процессе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rate ещё не откалиброван — модель обучена без label smoothing, что даёт резкие, но не обязательно хорошо калиброванные вероятности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ИНТЕРПРЕТИРУЕМОСТЬ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Occlusion Importance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класса (500 правильно классифицированных образцов) канал поочерёдно «обнулялся» — измерялось падение уверенности модели.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Главный канал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Untreated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(ядро)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Paclitaxel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(ядро)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Vorinostat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(цитоскелет)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55080" y="178308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</a:t>
            </a:r>
            <a:endParaRPr lang="en-US" sz="11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103120"/>
          <a:ext cx="52578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1945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Главный канал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Untreated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(ядро)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Paclitaxel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/ Blue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43.9% / 35.1%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Vorinostat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(цитоскелет)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37490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СОГЛАСОВАННОСТЬ МЕЖДУ МОДЕЛЯМИ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40690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7EFE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4187952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Untreated и Vorinostat — обе модели согласны (Blue и Red соответственно). Paclitaxel — EfficientNet фокусируется на Blue, DINOv2 распределяет внимание между Red и Blue почти поровну.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5120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БИОЛОГИЧЕСКАЯ ИНТЕРПРЕТАЦИЯ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48640" y="544068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Vorinostat → Red: HDAC6 напрямую ацетилирует тубулин — прямой эффект на цитоскелет, не требующий изменения экспрессии генов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Paclitaxel → Blue (+ Red у DINOv2): к 48–72 ч большинство клеток в апоптозе — конденсация хроматина выражена в Blue; DINOv2 дополнительно улавливает остаточные изменения цитоскелета в Red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Исходная гипотеза (Paclitaxel→Red, Vorinostat→Blue) не подтвердилась буквально — модели улавливают downstream-эффекты на временном срезе 48–72 ч.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ИНТЕРПРЕТИРУЕМОСТЬ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 и Self-Attention Maps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(EFFICIENTNET)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F7F7F7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Визуализирует области, на которые опирается модель: обратное распространение градиента целевого класса и взвешенное суммирование карт активации последнего сверточного блока (model.features[-1][-1]). Карта накладывается на каждый из 4 каналов отдельно.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Реализация: библиотека pytorch-grad-cam, ClassifierOutputTarget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55080" y="137160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MAPS (DINOV2)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257800" cy="2377440"/>
          </a:xfrm>
          <a:prstGeom prst="roundRect">
            <a:avLst>
              <a:gd name="adj" fmla="val 2308"/>
            </a:avLst>
          </a:prstGeom>
          <a:solidFill>
            <a:srgbClr val="F7F7F7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2880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MemEffAttention не сохраняет веса внимания в стандартном выводе. Метод: временная подмена forward-функции, которая вычисляет softmax(QKᵀ/√d) и сохраняет матрицу. Внимание CLS-токена на патчи усредняется по 6 головам и последним 3 блокам.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35204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патчей (16×16 сетка), интерполяция до 224×224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МЕТОДОЛОГИЧЕСКОЕ ЗАМЕЧАНИЕ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7EFE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548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и Attention Map — разные по природе: Grad-CAM показывает, где градиент целевого класса максимален (что важно для конкретного предсказания), Attention Map — куда CLS-токен «смотрит» в целом. Совпадение зон обоих методов с результатами channel occlusion усиливает интерпретацию результата.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достигнуто, что показала интерпретируемость, ограничения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ДОСТИГНУТО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394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модели из разных архитектурных семейств: CNN, supervised ViT, self-supervised ViT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и DINOv2: Test Macro F1 ≈ 0.908–0.909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оценочно ~5 → ~3 600+ образцов/час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достигает сопоставимого результата при обучении лишь ~11% параметров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occlusion / Grad-CAM / Attention — косвенные методы, не доказывают причинность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только одного временного среза (48–72 ч)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ViT-Small не завершён — полное трёхстороннее сравнение невозможно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Онлайн-метрики не проверены в продуктивной среде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55080" y="132588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НАХОДКА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5257800" cy="2286000"/>
          </a:xfrm>
          <a:prstGeom prst="roundRect">
            <a:avLst>
              <a:gd name="adj" fmla="val 2400"/>
            </a:avLst>
          </a:prstGeom>
          <a:solidFill>
            <a:srgbClr val="E7EFEF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78308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Исходная гипотеза (Paclitaxel→Red, Vorinostat→Blue) не подтвердилась буквально. Обе модели согласованно показывают: Paclitaxel→Blue, Vorinostat→Red — downstream морфологические эффекты на сроке 48–72 ч, а не первичный механизм действия. Устойчивость паттерна между CNN и ViT говорит о том, что сигнал реальный.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420624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ДАЛЬНЕЙШИЕ ШАГИ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4526280"/>
            <a:ext cx="5257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по белковым мишеням — какие компартменты наиболее информативны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на разных временных точках (24/48/72 ч)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Завершение ViT-Small с layer-wise lr decay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на независимой когорте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 Drug Response Classification</dc:title>
  <dc:subject>PptxGenJS Presentation</dc:subject>
  <dc:creator>Project</dc:creator>
  <cp:lastModifiedBy>Project</cp:lastModifiedBy>
  <cp:revision>1</cp:revision>
  <dcterms:created xsi:type="dcterms:W3CDTF">2026-06-30T13:33:15Z</dcterms:created>
  <dcterms:modified xsi:type="dcterms:W3CDTF">2026-06-30T13:33:15Z</dcterms:modified>
</cp:coreProperties>
</file>